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Interphases Bold" charset="1" panose="02000803060000020004"/>
      <p:regular r:id="rId17"/>
    </p:embeddedFont>
    <p:embeddedFont>
      <p:font typeface="TT Interphases" charset="1" panose="02000503020000020004"/>
      <p:regular r:id="rId18"/>
    </p:embeddedFont>
    <p:embeddedFont>
      <p:font typeface="TT Interphases Bold Italics" charset="1" panose="02000803000000090004"/>
      <p:regular r:id="rId19"/>
    </p:embeddedFont>
    <p:embeddedFont>
      <p:font typeface="TT Interphases Italics" charset="1" panose="02000503020000090004"/>
      <p:regular r:id="rId20"/>
    </p:embeddedFont>
    <p:embeddedFont>
      <p:font typeface="Canva Sans" charset="1" panose="020B0503030501040103"/>
      <p:regular r:id="rId21"/>
    </p:embeddedFont>
    <p:embeddedFont>
      <p:font typeface="Cinzel Decorativ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8931" y="3168410"/>
            <a:ext cx="17058783" cy="3227014"/>
            <a:chOff x="0" y="0"/>
            <a:chExt cx="12869391" cy="2434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69391" cy="2434506"/>
            </a:xfrm>
            <a:custGeom>
              <a:avLst/>
              <a:gdLst/>
              <a:ahLst/>
              <a:cxnLst/>
              <a:rect r="r" b="b" t="t" l="l"/>
              <a:pathLst>
                <a:path h="2434506" w="12869391">
                  <a:moveTo>
                    <a:pt x="13615" y="0"/>
                  </a:moveTo>
                  <a:lnTo>
                    <a:pt x="12855777" y="0"/>
                  </a:lnTo>
                  <a:cubicBezTo>
                    <a:pt x="12859387" y="0"/>
                    <a:pt x="12862851" y="1434"/>
                    <a:pt x="12865404" y="3988"/>
                  </a:cubicBezTo>
                  <a:cubicBezTo>
                    <a:pt x="12867957" y="6541"/>
                    <a:pt x="12869391" y="10004"/>
                    <a:pt x="12869391" y="13615"/>
                  </a:cubicBezTo>
                  <a:lnTo>
                    <a:pt x="12869391" y="2420891"/>
                  </a:lnTo>
                  <a:cubicBezTo>
                    <a:pt x="12869391" y="2428410"/>
                    <a:pt x="12863295" y="2434506"/>
                    <a:pt x="12855777" y="2434506"/>
                  </a:cubicBezTo>
                  <a:lnTo>
                    <a:pt x="13615" y="2434506"/>
                  </a:lnTo>
                  <a:cubicBezTo>
                    <a:pt x="6096" y="2434506"/>
                    <a:pt x="0" y="2428410"/>
                    <a:pt x="0" y="2420891"/>
                  </a:cubicBezTo>
                  <a:lnTo>
                    <a:pt x="0" y="13615"/>
                  </a:lnTo>
                  <a:cubicBezTo>
                    <a:pt x="0" y="6096"/>
                    <a:pt x="6096" y="0"/>
                    <a:pt x="13615" y="0"/>
                  </a:cubicBezTo>
                  <a:close/>
                </a:path>
              </a:pathLst>
            </a:custGeom>
            <a:solidFill>
              <a:srgbClr val="FA643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69391" cy="24726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5825" y="3353076"/>
            <a:ext cx="16633864" cy="2879092"/>
          </a:xfrm>
          <a:custGeom>
            <a:avLst/>
            <a:gdLst/>
            <a:ahLst/>
            <a:cxnLst/>
            <a:rect r="r" b="b" t="t" l="l"/>
            <a:pathLst>
              <a:path h="2879092" w="16633864">
                <a:moveTo>
                  <a:pt x="0" y="0"/>
                </a:moveTo>
                <a:lnTo>
                  <a:pt x="16633864" y="0"/>
                </a:lnTo>
                <a:lnTo>
                  <a:pt x="16633864" y="2879091"/>
                </a:lnTo>
                <a:lnTo>
                  <a:pt x="0" y="287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294" r="-491198" b="-52080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5825" y="3942748"/>
            <a:ext cx="16633864" cy="16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1"/>
              </a:lnSpc>
            </a:pPr>
            <a:r>
              <a:rPr lang="en-US" b="true" sz="422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COMPARATIVE STUDY OF ENHANCED ANN AND CNN MODELS FOR FASHION-MNIST IMAGE CLASSIFICATION</a:t>
            </a:r>
          </a:p>
          <a:p>
            <a:pPr algn="ctr">
              <a:lnSpc>
                <a:spcPts val="2685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>
            <a:off x="0" y="9577062"/>
            <a:ext cx="18288000" cy="75633"/>
          </a:xfrm>
          <a:prstGeom prst="rect">
            <a:avLst/>
          </a:prstGeom>
          <a:solidFill>
            <a:srgbClr val="13355B"/>
          </a:solidFill>
        </p:spPr>
      </p:sp>
      <p:sp>
        <p:nvSpPr>
          <p:cNvPr name="AutoShape 8" id="8"/>
          <p:cNvSpPr/>
          <p:nvPr/>
        </p:nvSpPr>
        <p:spPr>
          <a:xfrm>
            <a:off x="-2417609" y="9700320"/>
            <a:ext cx="21156612" cy="0"/>
          </a:xfrm>
          <a:prstGeom prst="line">
            <a:avLst/>
          </a:prstGeom>
          <a:ln cap="flat" w="952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556611" y="7185197"/>
            <a:ext cx="7402763" cy="46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b="true" sz="35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STUDENT ID : P2901017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798194" y="0"/>
            <a:ext cx="0" cy="10451465"/>
          </a:xfrm>
          <a:prstGeom prst="line">
            <a:avLst/>
          </a:prstGeom>
          <a:ln cap="flat" w="19050">
            <a:solidFill>
              <a:srgbClr val="19191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402763" cy="1572184"/>
            <a:chOff x="0" y="0"/>
            <a:chExt cx="9870351" cy="20962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0"/>
              <a:ext cx="9870351" cy="1034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600"/>
                </a:lnSpc>
              </a:pPr>
              <a:r>
                <a:rPr lang="en-US" b="true" sz="5600">
                  <a:solidFill>
                    <a:srgbClr val="13355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INTRODUCTION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4273230" y="1512078"/>
              <a:ext cx="1323891" cy="584167"/>
            </a:xfrm>
            <a:custGeom>
              <a:avLst/>
              <a:gdLst/>
              <a:ahLst/>
              <a:cxnLst/>
              <a:rect r="r" b="b" t="t" l="l"/>
              <a:pathLst>
                <a:path h="584167" w="1323891">
                  <a:moveTo>
                    <a:pt x="0" y="0"/>
                  </a:moveTo>
                  <a:lnTo>
                    <a:pt x="1323891" y="0"/>
                  </a:lnTo>
                  <a:lnTo>
                    <a:pt x="1323891" y="584167"/>
                  </a:lnTo>
                  <a:lnTo>
                    <a:pt x="0" y="584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72912" y="1729067"/>
            <a:ext cx="8175305" cy="548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Background: 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Artificial Neural Networks (ANNs) and Convolutional Neural Networks (CNNs) are powerful learning models widely used in image classification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Motivation: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While ANNs process flattened data, CNNs learn spatial hierarchies directly from images — a key advantage in visual tasks.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Aim of the Study: 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 build, enhance, and compare the performance of ANN and CNN models on the Fashion-MNIST dataset, using improved regularization and augmentation techniques.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4707780">
            <a:off x="-1034765" y="-1230748"/>
            <a:ext cx="2054268" cy="2088442"/>
          </a:xfrm>
          <a:custGeom>
            <a:avLst/>
            <a:gdLst/>
            <a:ahLst/>
            <a:cxnLst/>
            <a:rect r="r" b="b" t="t" l="l"/>
            <a:pathLst>
              <a:path h="2088442" w="2054268">
                <a:moveTo>
                  <a:pt x="0" y="0"/>
                </a:moveTo>
                <a:lnTo>
                  <a:pt x="2054268" y="0"/>
                </a:lnTo>
                <a:lnTo>
                  <a:pt x="2054268" y="2088443"/>
                </a:lnTo>
                <a:lnTo>
                  <a:pt x="0" y="2088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074419" y="0"/>
            <a:ext cx="0" cy="10451465"/>
          </a:xfrm>
          <a:prstGeom prst="line">
            <a:avLst/>
          </a:prstGeom>
          <a:ln cap="flat" w="19050">
            <a:solidFill>
              <a:srgbClr val="19191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95431" y="1291630"/>
            <a:ext cx="7402763" cy="1572184"/>
            <a:chOff x="0" y="0"/>
            <a:chExt cx="9870351" cy="20962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0"/>
              <a:ext cx="9870351" cy="1034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600"/>
                </a:lnSpc>
              </a:pPr>
              <a:r>
                <a:rPr lang="en-US" b="true" sz="5600">
                  <a:solidFill>
                    <a:srgbClr val="13355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OBJECTIVES / GOALS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4273230" y="1512078"/>
              <a:ext cx="1323891" cy="584167"/>
            </a:xfrm>
            <a:custGeom>
              <a:avLst/>
              <a:gdLst/>
              <a:ahLst/>
              <a:cxnLst/>
              <a:rect r="r" b="b" t="t" l="l"/>
              <a:pathLst>
                <a:path h="584167" w="1323891">
                  <a:moveTo>
                    <a:pt x="0" y="0"/>
                  </a:moveTo>
                  <a:lnTo>
                    <a:pt x="1323891" y="0"/>
                  </a:lnTo>
                  <a:lnTo>
                    <a:pt x="1323891" y="584167"/>
                  </a:lnTo>
                  <a:lnTo>
                    <a:pt x="0" y="584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72912" y="1729067"/>
            <a:ext cx="8175305" cy="502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b="true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Primary Objectives: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Design and implement enhanced ANN and enhanced CNN architectures using PyTorch.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Apply data normalization,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augmentation, and regularization to improve generalization.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Evaluate model performance using multiple metrics — accuracy, loss curves, and confusion matrices.</a:t>
            </a: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Expected Outcome: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 is expected to outperform ANN due to its ability to extract spatial features from images.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4707780">
            <a:off x="-1034765" y="-1230748"/>
            <a:ext cx="2054268" cy="2088442"/>
          </a:xfrm>
          <a:custGeom>
            <a:avLst/>
            <a:gdLst/>
            <a:ahLst/>
            <a:cxnLst/>
            <a:rect r="r" b="b" t="t" l="l"/>
            <a:pathLst>
              <a:path h="2088442" w="2054268">
                <a:moveTo>
                  <a:pt x="0" y="0"/>
                </a:moveTo>
                <a:lnTo>
                  <a:pt x="2054268" y="0"/>
                </a:lnTo>
                <a:lnTo>
                  <a:pt x="2054268" y="2088443"/>
                </a:lnTo>
                <a:lnTo>
                  <a:pt x="0" y="2088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784" y="1948772"/>
            <a:ext cx="7780516" cy="386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Dataset Preparation: 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Load, normalize, and augment Fashion-MNIST.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Model Development: 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Construct and fine-tune ANN and CNN architectures.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Training Strategy: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Optimize with RMSprop, monitor validation loss, apply learning rate scheduling.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Evaluation: 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Compare results using test accuracy, per-class recall, and confusion matrix.</a:t>
            </a:r>
          </a:p>
        </p:txBody>
      </p:sp>
      <p:sp>
        <p:nvSpPr>
          <p:cNvPr name="AutoShape 3" id="3"/>
          <p:cNvSpPr/>
          <p:nvPr/>
        </p:nvSpPr>
        <p:spPr>
          <a:xfrm>
            <a:off x="9478784" y="6078356"/>
            <a:ext cx="7780516" cy="0"/>
          </a:xfrm>
          <a:prstGeom prst="line">
            <a:avLst/>
          </a:prstGeom>
          <a:ln cap="flat" w="19050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3113287" y="0"/>
            <a:ext cx="9634014" cy="10408011"/>
            <a:chOff x="0" y="0"/>
            <a:chExt cx="2537354" cy="27412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7353" cy="2741205"/>
            </a:xfrm>
            <a:custGeom>
              <a:avLst/>
              <a:gdLst/>
              <a:ahLst/>
              <a:cxnLst/>
              <a:rect r="r" b="b" t="t" l="l"/>
              <a:pathLst>
                <a:path h="2741205" w="2537353">
                  <a:moveTo>
                    <a:pt x="0" y="0"/>
                  </a:moveTo>
                  <a:lnTo>
                    <a:pt x="2537353" y="0"/>
                  </a:lnTo>
                  <a:lnTo>
                    <a:pt x="2537353" y="2741205"/>
                  </a:lnTo>
                  <a:lnTo>
                    <a:pt x="0" y="2741205"/>
                  </a:lnTo>
                  <a:close/>
                </a:path>
              </a:pathLst>
            </a:custGeom>
            <a:solidFill>
              <a:srgbClr val="133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37354" cy="278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3567776"/>
            <a:ext cx="6341776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1F1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METHODOLOGY /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8784" y="1493020"/>
            <a:ext cx="77805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2400">
                <a:solidFill>
                  <a:srgbClr val="3B3B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Step-by-Step Framework: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784" y="6963275"/>
            <a:ext cx="7780516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Programming: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Python (PyTorch)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Visualization: 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Matplotlib, Seaborn 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Optimization: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RMSprop (lr=0.01, weight decay=1e-4)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784" y="6507523"/>
            <a:ext cx="77805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2400">
                <a:solidFill>
                  <a:srgbClr val="3B3B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Tools &amp; Frameworks: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09081" y="9422630"/>
            <a:ext cx="11003944" cy="24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6"/>
              </a:lnSpc>
              <a:spcBef>
                <a:spcPct val="0"/>
              </a:spcBef>
            </a:pPr>
            <a:r>
              <a:rPr lang="en-US" b="true" sz="1856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(INCLUDE FLOWCHART: DATA → PREPROCESSING → MODEL DESIGN → TRAINING → EVALUATION)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775483" y="-5555307"/>
            <a:ext cx="4470609" cy="8003568"/>
            <a:chOff x="0" y="0"/>
            <a:chExt cx="1177444" cy="2107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7444" cy="2107935"/>
            </a:xfrm>
            <a:custGeom>
              <a:avLst/>
              <a:gdLst/>
              <a:ahLst/>
              <a:cxnLst/>
              <a:rect r="r" b="b" t="t" l="l"/>
              <a:pathLst>
                <a:path h="2107935" w="1177444">
                  <a:moveTo>
                    <a:pt x="0" y="0"/>
                  </a:moveTo>
                  <a:lnTo>
                    <a:pt x="1177444" y="0"/>
                  </a:lnTo>
                  <a:lnTo>
                    <a:pt x="1177444" y="2107935"/>
                  </a:lnTo>
                  <a:lnTo>
                    <a:pt x="0" y="2107935"/>
                  </a:lnTo>
                  <a:close/>
                </a:path>
              </a:pathLst>
            </a:custGeom>
            <a:solidFill>
              <a:srgbClr val="1335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7444" cy="215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760578"/>
            <a:ext cx="3865493" cy="659964"/>
            <a:chOff x="0" y="0"/>
            <a:chExt cx="1018072" cy="1738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8072" cy="173818"/>
            </a:xfrm>
            <a:custGeom>
              <a:avLst/>
              <a:gdLst/>
              <a:ahLst/>
              <a:cxnLst/>
              <a:rect r="r" b="b" t="t" l="l"/>
              <a:pathLst>
                <a:path h="173818" w="1018072">
                  <a:moveTo>
                    <a:pt x="0" y="0"/>
                  </a:moveTo>
                  <a:lnTo>
                    <a:pt x="1018072" y="0"/>
                  </a:lnTo>
                  <a:lnTo>
                    <a:pt x="1018072" y="173818"/>
                  </a:lnTo>
                  <a:lnTo>
                    <a:pt x="0" y="17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18072" cy="21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33925" y="2760578"/>
            <a:ext cx="4013126" cy="659964"/>
            <a:chOff x="0" y="0"/>
            <a:chExt cx="1056955" cy="1738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955" cy="173818"/>
            </a:xfrm>
            <a:custGeom>
              <a:avLst/>
              <a:gdLst/>
              <a:ahLst/>
              <a:cxnLst/>
              <a:rect r="r" b="b" t="t" l="l"/>
              <a:pathLst>
                <a:path h="173818" w="1056955">
                  <a:moveTo>
                    <a:pt x="0" y="0"/>
                  </a:moveTo>
                  <a:lnTo>
                    <a:pt x="1056955" y="0"/>
                  </a:lnTo>
                  <a:lnTo>
                    <a:pt x="1056955" y="173818"/>
                  </a:lnTo>
                  <a:lnTo>
                    <a:pt x="0" y="17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56955" cy="21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462237"/>
            <a:ext cx="5086147" cy="659964"/>
            <a:chOff x="0" y="0"/>
            <a:chExt cx="1339561" cy="173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561" cy="173818"/>
            </a:xfrm>
            <a:custGeom>
              <a:avLst/>
              <a:gdLst/>
              <a:ahLst/>
              <a:cxnLst/>
              <a:rect r="r" b="b" t="t" l="l"/>
              <a:pathLst>
                <a:path h="173818" w="1339561">
                  <a:moveTo>
                    <a:pt x="0" y="0"/>
                  </a:moveTo>
                  <a:lnTo>
                    <a:pt x="1339561" y="0"/>
                  </a:lnTo>
                  <a:lnTo>
                    <a:pt x="1339561" y="173818"/>
                  </a:lnTo>
                  <a:lnTo>
                    <a:pt x="0" y="17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9561" cy="21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33925" y="5462237"/>
            <a:ext cx="4052607" cy="659964"/>
            <a:chOff x="0" y="0"/>
            <a:chExt cx="1067353" cy="1738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7353" cy="173818"/>
            </a:xfrm>
            <a:custGeom>
              <a:avLst/>
              <a:gdLst/>
              <a:ahLst/>
              <a:cxnLst/>
              <a:rect r="r" b="b" t="t" l="l"/>
              <a:pathLst>
                <a:path h="173818" w="1067353">
                  <a:moveTo>
                    <a:pt x="0" y="0"/>
                  </a:moveTo>
                  <a:lnTo>
                    <a:pt x="1067353" y="0"/>
                  </a:lnTo>
                  <a:lnTo>
                    <a:pt x="1067353" y="173818"/>
                  </a:lnTo>
                  <a:lnTo>
                    <a:pt x="0" y="17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7353" cy="21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7755" y="2907692"/>
            <a:ext cx="365736" cy="365736"/>
            <a:chOff x="0" y="0"/>
            <a:chExt cx="96325" cy="963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2980" y="2907692"/>
            <a:ext cx="365736" cy="365736"/>
            <a:chOff x="0" y="0"/>
            <a:chExt cx="96325" cy="963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2980" y="5609351"/>
            <a:ext cx="365736" cy="365736"/>
            <a:chOff x="0" y="0"/>
            <a:chExt cx="96325" cy="963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7755" y="5609351"/>
            <a:ext cx="365736" cy="365736"/>
            <a:chOff x="0" y="0"/>
            <a:chExt cx="96325" cy="963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235943"/>
            <a:ext cx="124062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/ MATERIALS / INPUTS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677321"/>
            <a:ext cx="6670396" cy="13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Fashion-MNIST — 70,000 grayscale images of clothing items (10 categories).</a:t>
            </a:r>
          </a:p>
          <a:p>
            <a:pPr algn="l">
              <a:lnSpc>
                <a:spcPts val="3600"/>
              </a:lnSpc>
            </a:pPr>
            <a:r>
              <a:rPr lang="en-US" b="true" sz="2400" i="true">
                <a:solidFill>
                  <a:srgbClr val="30303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Split: </a:t>
            </a: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50k training, 10k validation, 10k testing.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33925" y="3677321"/>
            <a:ext cx="6670396" cy="4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28 × 28 pixels, single channel (grayscale).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6378979"/>
            <a:ext cx="7160321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600"/>
              </a:lnSpc>
              <a:buAutoNum type="arabicPeriod" startAt="1"/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Normalization using mean = 0.1307 and std = 0.3081. </a:t>
            </a:r>
          </a:p>
          <a:p>
            <a:pPr algn="l" marL="518160" indent="-259080" lvl="1">
              <a:lnSpc>
                <a:spcPts val="3600"/>
              </a:lnSpc>
              <a:buAutoNum type="arabicPeriod" startAt="1"/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Augmentation (applied to training set only):  </a:t>
            </a:r>
          </a:p>
          <a:p>
            <a:pPr algn="l">
              <a:lnSpc>
                <a:spcPts val="3600"/>
              </a:lnSpc>
            </a:pP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RandomRotation(10°) 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RandomHorizontalFlip (p=0.5) 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RandomCrop(28, padding=2)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05000" y="2821956"/>
            <a:ext cx="2458898" cy="4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Dataset: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10225" y="2821956"/>
            <a:ext cx="2606816" cy="4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</a:t>
            </a: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mage Size: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05000" y="5523615"/>
            <a:ext cx="3680999" cy="4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Prepr</a:t>
            </a: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ocessing: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14915" y="5550285"/>
            <a:ext cx="4285577" cy="40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Dataloader Configurati</a:t>
            </a:r>
            <a:r>
              <a:rPr lang="en-US" sz="22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on: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57172" y="6588926"/>
            <a:ext cx="6547148" cy="41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Batch size = 128, shuffle = True, num_workers = 2.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784" y="1948772"/>
            <a:ext cx="7780516" cy="241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Input: Flattened 784 features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Hidden Layers: 512 → 256 → 128 (ReLU activations) •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Enhancements: BatchNorm1d and Dropout (p=0.5) to prevent overfitting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Parameters: 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569,226 </a:t>
            </a:r>
          </a:p>
        </p:txBody>
      </p:sp>
      <p:sp>
        <p:nvSpPr>
          <p:cNvPr name="AutoShape 3" id="3"/>
          <p:cNvSpPr/>
          <p:nvPr/>
        </p:nvSpPr>
        <p:spPr>
          <a:xfrm>
            <a:off x="9478784" y="4914900"/>
            <a:ext cx="7780516" cy="0"/>
          </a:xfrm>
          <a:prstGeom prst="line">
            <a:avLst/>
          </a:prstGeom>
          <a:ln cap="flat" w="19050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3113287" y="0"/>
            <a:ext cx="9634014" cy="10408011"/>
            <a:chOff x="0" y="0"/>
            <a:chExt cx="2537354" cy="27412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7353" cy="2741205"/>
            </a:xfrm>
            <a:custGeom>
              <a:avLst/>
              <a:gdLst/>
              <a:ahLst/>
              <a:cxnLst/>
              <a:rect r="r" b="b" t="t" l="l"/>
              <a:pathLst>
                <a:path h="2741205" w="2537353">
                  <a:moveTo>
                    <a:pt x="0" y="0"/>
                  </a:moveTo>
                  <a:lnTo>
                    <a:pt x="2537353" y="0"/>
                  </a:lnTo>
                  <a:lnTo>
                    <a:pt x="2537353" y="2741205"/>
                  </a:lnTo>
                  <a:lnTo>
                    <a:pt x="0" y="2741205"/>
                  </a:lnTo>
                  <a:close/>
                </a:path>
              </a:pathLst>
            </a:custGeom>
            <a:solidFill>
              <a:srgbClr val="133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37354" cy="278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288354" y="3525140"/>
            <a:ext cx="6809081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1F1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IMPLEMENTATION / MODEL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8784" y="1493020"/>
            <a:ext cx="77805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2400">
                <a:solidFill>
                  <a:srgbClr val="3B3B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Enhanced ANN (Multi-Layer Perceptron):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784" y="5896225"/>
            <a:ext cx="7780516" cy="33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Convolution Blocks: (1→32→64→128) with 3×3 kernels, padding=1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Each block includes BatchNorm2d, ReLU, MaxPooling (2×2), Dropout2d (0.25)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Fully Connected Layer: 256 neurons + Dropout(0.5) → Output(10) </a:t>
            </a:r>
          </a:p>
          <a:p>
            <a:pPr algn="l" marL="518160" indent="-259080" lvl="1">
              <a:lnSpc>
                <a:spcPts val="3840"/>
              </a:lnSpc>
              <a:buAutoNum type="arabicPeriod" startAt="1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Parameters: 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391,370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784" y="5125022"/>
            <a:ext cx="77805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2400">
                <a:solidFill>
                  <a:srgbClr val="3B3B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Enhanced CNN (Convolutional Neural Network):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798194" y="0"/>
            <a:ext cx="0" cy="10451465"/>
          </a:xfrm>
          <a:prstGeom prst="line">
            <a:avLst/>
          </a:prstGeom>
          <a:ln cap="flat" w="19050">
            <a:solidFill>
              <a:srgbClr val="19191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402763" cy="2277034"/>
            <a:chOff x="0" y="0"/>
            <a:chExt cx="9870351" cy="30360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0"/>
              <a:ext cx="9870351" cy="1974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600"/>
                </a:lnSpc>
              </a:pPr>
              <a:r>
                <a:rPr lang="en-US" b="true" sz="5600">
                  <a:solidFill>
                    <a:srgbClr val="13355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TRAINING AND EVALUATION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4273230" y="2451878"/>
              <a:ext cx="1323891" cy="584167"/>
            </a:xfrm>
            <a:custGeom>
              <a:avLst/>
              <a:gdLst/>
              <a:ahLst/>
              <a:cxnLst/>
              <a:rect r="r" b="b" t="t" l="l"/>
              <a:pathLst>
                <a:path h="584167" w="1323891">
                  <a:moveTo>
                    <a:pt x="0" y="0"/>
                  </a:moveTo>
                  <a:lnTo>
                    <a:pt x="1323891" y="0"/>
                  </a:lnTo>
                  <a:lnTo>
                    <a:pt x="1323891" y="584167"/>
                  </a:lnTo>
                  <a:lnTo>
                    <a:pt x="0" y="584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72912" y="1729067"/>
            <a:ext cx="8175305" cy="68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b="true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Training Configuration: 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Epochs: 20</a:t>
            </a:r>
          </a:p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Loss Function: CrossEntropyLoss</a:t>
            </a:r>
          </a:p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Optimizer: RMSprop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Scheduler: ReduceLROnPlateau (factor=0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.5, patience=3)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Validation Strategy: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Monitored accuracy and loss per epoch.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Saved model with best validation performance.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Performance Trends: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ANN: ~73% training → 80% validation accuracy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CNN: ~85% training → 89% validation accuracy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4707780">
            <a:off x="-1034765" y="-1230748"/>
            <a:ext cx="2054268" cy="2088442"/>
          </a:xfrm>
          <a:custGeom>
            <a:avLst/>
            <a:gdLst/>
            <a:ahLst/>
            <a:cxnLst/>
            <a:rect r="r" b="b" t="t" l="l"/>
            <a:pathLst>
              <a:path h="2088442" w="2054268">
                <a:moveTo>
                  <a:pt x="0" y="0"/>
                </a:moveTo>
                <a:lnTo>
                  <a:pt x="2054268" y="0"/>
                </a:lnTo>
                <a:lnTo>
                  <a:pt x="2054268" y="2088443"/>
                </a:lnTo>
                <a:lnTo>
                  <a:pt x="0" y="2088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775483" y="-5555307"/>
            <a:ext cx="4470609" cy="8003568"/>
            <a:chOff x="0" y="0"/>
            <a:chExt cx="1177444" cy="2107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7444" cy="2107935"/>
            </a:xfrm>
            <a:custGeom>
              <a:avLst/>
              <a:gdLst/>
              <a:ahLst/>
              <a:cxnLst/>
              <a:rect r="r" b="b" t="t" l="l"/>
              <a:pathLst>
                <a:path h="2107935" w="1177444">
                  <a:moveTo>
                    <a:pt x="0" y="0"/>
                  </a:moveTo>
                  <a:lnTo>
                    <a:pt x="1177444" y="0"/>
                  </a:lnTo>
                  <a:lnTo>
                    <a:pt x="1177444" y="2107935"/>
                  </a:lnTo>
                  <a:lnTo>
                    <a:pt x="0" y="2107935"/>
                  </a:lnTo>
                  <a:close/>
                </a:path>
              </a:pathLst>
            </a:custGeom>
            <a:solidFill>
              <a:srgbClr val="1335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7444" cy="215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33925" y="2723629"/>
            <a:ext cx="6377884" cy="696913"/>
            <a:chOff x="0" y="0"/>
            <a:chExt cx="1679772" cy="1835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9772" cy="183549"/>
            </a:xfrm>
            <a:custGeom>
              <a:avLst/>
              <a:gdLst/>
              <a:ahLst/>
              <a:cxnLst/>
              <a:rect r="r" b="b" t="t" l="l"/>
              <a:pathLst>
                <a:path h="183549" w="1679772">
                  <a:moveTo>
                    <a:pt x="0" y="0"/>
                  </a:moveTo>
                  <a:lnTo>
                    <a:pt x="1679772" y="0"/>
                  </a:lnTo>
                  <a:lnTo>
                    <a:pt x="1679772" y="183549"/>
                  </a:lnTo>
                  <a:lnTo>
                    <a:pt x="0" y="1835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79772" cy="221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33925" y="5462237"/>
            <a:ext cx="4790368" cy="659964"/>
            <a:chOff x="0" y="0"/>
            <a:chExt cx="1261661" cy="1738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1661" cy="173818"/>
            </a:xfrm>
            <a:custGeom>
              <a:avLst/>
              <a:gdLst/>
              <a:ahLst/>
              <a:cxnLst/>
              <a:rect r="r" b="b" t="t" l="l"/>
              <a:pathLst>
                <a:path h="173818" w="1261661">
                  <a:moveTo>
                    <a:pt x="0" y="0"/>
                  </a:moveTo>
                  <a:lnTo>
                    <a:pt x="1261661" y="0"/>
                  </a:lnTo>
                  <a:lnTo>
                    <a:pt x="1261661" y="173818"/>
                  </a:lnTo>
                  <a:lnTo>
                    <a:pt x="0" y="17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61661" cy="21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2980" y="2907692"/>
            <a:ext cx="365736" cy="365736"/>
            <a:chOff x="0" y="0"/>
            <a:chExt cx="96325" cy="963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2980" y="5609351"/>
            <a:ext cx="365736" cy="365736"/>
            <a:chOff x="0" y="0"/>
            <a:chExt cx="96325" cy="963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25" cy="96325"/>
            </a:xfrm>
            <a:custGeom>
              <a:avLst/>
              <a:gdLst/>
              <a:ahLst/>
              <a:cxnLst/>
              <a:rect r="r" b="b" t="t" l="l"/>
              <a:pathLst>
                <a:path h="96325" w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6325" cy="1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028700" y="3944359"/>
          <a:ext cx="7315200" cy="3390900"/>
        </p:xfrm>
        <a:graphic>
          <a:graphicData uri="http://schemas.openxmlformats.org/drawingml/2006/table">
            <a:tbl>
              <a:tblPr/>
              <a:tblGrid>
                <a:gridCol w="2687372"/>
                <a:gridCol w="2189428"/>
                <a:gridCol w="2438400"/>
              </a:tblGrid>
              <a:tr h="13293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Validation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7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80.12%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79.79%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7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89.29%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028700" y="1235943"/>
            <a:ext cx="124062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RESULTS AND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3925" y="3677321"/>
            <a:ext cx="6670396" cy="13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Shirt: +23% 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Pullover: +20% 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0303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Coat: +14%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05450" y="2821956"/>
            <a:ext cx="6190902" cy="45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Per-Class I</a:t>
            </a:r>
            <a:r>
              <a:rPr lang="en-US" sz="24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mprovement (CNN vs ANN)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67350" y="5573134"/>
            <a:ext cx="4285577" cy="40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Confusion Matrix I</a:t>
            </a:r>
            <a:r>
              <a:rPr lang="en-US" sz="22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3925" y="6265076"/>
            <a:ext cx="7625375" cy="251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73" indent="-25908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 gre</a:t>
            </a:r>
            <a:r>
              <a:rPr lang="en-US" sz="24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atly reduced misclassifications (e.g., Shirt→T-shirt: 233→107).</a:t>
            </a:r>
          </a:p>
          <a:p>
            <a:pPr algn="just" marL="518173" indent="-25908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Highest accuracy: Sneakers (98%) and Trousers (97%) </a:t>
            </a:r>
          </a:p>
          <a:p>
            <a:pPr algn="just" marL="518173" indent="-259086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Most confusion: Upper body wear classes due to grayscale similarity.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784" y="1303473"/>
            <a:ext cx="7780516" cy="28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CNN outperformed ANN by ~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9</a:t>
            </a: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%, demonstrating its strength in spatial feature learning. 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Regularization (Dropout, BatchNorm)</a:t>
            </a: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effectively reduced overfitting. 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Data augmentation</a:t>
            </a: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improved robustness and generalization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9478784" y="4714346"/>
            <a:ext cx="7780516" cy="0"/>
          </a:xfrm>
          <a:prstGeom prst="line">
            <a:avLst/>
          </a:prstGeom>
          <a:ln cap="flat" w="19050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3113287" y="0"/>
            <a:ext cx="9634014" cy="10408011"/>
            <a:chOff x="0" y="0"/>
            <a:chExt cx="2537354" cy="27412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7353" cy="2741205"/>
            </a:xfrm>
            <a:custGeom>
              <a:avLst/>
              <a:gdLst/>
              <a:ahLst/>
              <a:cxnLst/>
              <a:rect r="r" b="b" t="t" l="l"/>
              <a:pathLst>
                <a:path h="2741205" w="2537353">
                  <a:moveTo>
                    <a:pt x="0" y="0"/>
                  </a:moveTo>
                  <a:lnTo>
                    <a:pt x="2537353" y="0"/>
                  </a:lnTo>
                  <a:lnTo>
                    <a:pt x="2537353" y="2741205"/>
                  </a:lnTo>
                  <a:lnTo>
                    <a:pt x="0" y="2741205"/>
                  </a:lnTo>
                  <a:close/>
                </a:path>
              </a:pathLst>
            </a:custGeom>
            <a:solidFill>
              <a:srgbClr val="133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37354" cy="278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3567776"/>
            <a:ext cx="6341776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1F1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DISCUSSION AND KEY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8784" y="749541"/>
            <a:ext cx="77805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2400">
                <a:solidFill>
                  <a:srgbClr val="3B3B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Takeaways: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784" y="5646238"/>
            <a:ext cx="7780516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Visual similarity between certain classes (shirt, coat, pullover)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i="true">
                <a:solidFill>
                  <a:srgbClr val="3B3B3B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Limited color information in grayscale images.</a:t>
            </a:r>
            <a:r>
              <a:rPr lang="en-US" b="true" sz="2400" i="true">
                <a:solidFill>
                  <a:srgbClr val="3B3B3B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 </a:t>
            </a: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784" y="4929958"/>
            <a:ext cx="77805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2400">
                <a:solidFill>
                  <a:srgbClr val="3B3B3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Challenges: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478784" y="7448368"/>
            <a:ext cx="7780516" cy="0"/>
          </a:xfrm>
          <a:prstGeom prst="line">
            <a:avLst/>
          </a:prstGeom>
          <a:ln cap="flat" w="19050">
            <a:solidFill>
              <a:srgbClr val="6666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478784" y="7753168"/>
            <a:ext cx="7288010" cy="125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Interpretation: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478784" y="8303712"/>
            <a:ext cx="7780516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B3B3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CNNs provide scalable, hierarchical representations suitable for real-world image recognition tasks.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798194" y="0"/>
            <a:ext cx="0" cy="10451465"/>
          </a:xfrm>
          <a:prstGeom prst="line">
            <a:avLst/>
          </a:prstGeom>
          <a:ln cap="flat" w="19050">
            <a:solidFill>
              <a:srgbClr val="19191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95431" y="1028700"/>
            <a:ext cx="7402763" cy="2277034"/>
            <a:chOff x="0" y="0"/>
            <a:chExt cx="9870351" cy="30360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0"/>
              <a:ext cx="9870351" cy="1974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en-US" b="true" sz="5600">
                  <a:solidFill>
                    <a:srgbClr val="13355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CONCLUSION AND</a:t>
              </a:r>
            </a:p>
            <a:p>
              <a:pPr algn="ctr" marL="0" indent="0" lvl="0">
                <a:lnSpc>
                  <a:spcPts val="5600"/>
                </a:lnSpc>
              </a:pPr>
              <a:r>
                <a:rPr lang="en-US" b="true" sz="5600">
                  <a:solidFill>
                    <a:srgbClr val="13355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FUTURE WORK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4273230" y="2451878"/>
              <a:ext cx="1323891" cy="584167"/>
            </a:xfrm>
            <a:custGeom>
              <a:avLst/>
              <a:gdLst/>
              <a:ahLst/>
              <a:cxnLst/>
              <a:rect r="r" b="b" t="t" l="l"/>
              <a:pathLst>
                <a:path h="584167" w="1323891">
                  <a:moveTo>
                    <a:pt x="0" y="0"/>
                  </a:moveTo>
                  <a:lnTo>
                    <a:pt x="1323891" y="0"/>
                  </a:lnTo>
                  <a:lnTo>
                    <a:pt x="1323891" y="584167"/>
                  </a:lnTo>
                  <a:lnTo>
                    <a:pt x="0" y="584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61365" y="1167765"/>
            <a:ext cx="8175305" cy="868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b="true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Summary: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Implemented and compared enhanced ANN and CNN architectures on Fashion-MNIST.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CNN achieved superior classification accuracy and robustness.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Analysis revealed how architecture choice impacts performance and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error patterns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Future Scope: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Integrate deeper networks (e.g., ResNet, VGG).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Apply transfer learning for faster convergence.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Extend evaluation to colored and real-world datasets (e.g., CIFAR-10)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2400">
                <a:solidFill>
                  <a:srgbClr val="1335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Acknowledgments: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Zalando Research for the Fashion-MNIST dataset.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PyTorch, Matplotlib, Seaborn for implementation and visualization. </a:t>
            </a:r>
          </a:p>
          <a:p>
            <a:pPr algn="just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13355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Mentors and faculty for guidance and support.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4707780">
            <a:off x="-1034765" y="-1230748"/>
            <a:ext cx="2054268" cy="2088442"/>
          </a:xfrm>
          <a:custGeom>
            <a:avLst/>
            <a:gdLst/>
            <a:ahLst/>
            <a:cxnLst/>
            <a:rect r="r" b="b" t="t" l="l"/>
            <a:pathLst>
              <a:path h="2088442" w="2054268">
                <a:moveTo>
                  <a:pt x="0" y="0"/>
                </a:moveTo>
                <a:lnTo>
                  <a:pt x="2054268" y="0"/>
                </a:lnTo>
                <a:lnTo>
                  <a:pt x="2054268" y="2088443"/>
                </a:lnTo>
                <a:lnTo>
                  <a:pt x="0" y="2088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77771" y="4760278"/>
            <a:ext cx="6332458" cy="12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true">
                <a:solidFill>
                  <a:srgbClr val="13355B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DAG3z8Q8LMU</dc:identifier>
  <dcterms:modified xsi:type="dcterms:W3CDTF">2011-08-01T06:04:30Z</dcterms:modified>
  <cp:revision>1</cp:revision>
  <dc:title>P2901017_ppt</dc:title>
</cp:coreProperties>
</file>